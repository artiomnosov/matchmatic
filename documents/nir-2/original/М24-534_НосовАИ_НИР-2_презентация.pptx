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6858000" cx="12192000"/>
  <p:notesSz cx="6858000" cy="9144000"/>
  <p:embeddedFontLst>
    <p:embeddedFont>
      <p:font typeface="Arial Black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30" roundtripDataSignature="AMtx7miNvAXhui3LVzwk8jnEOAw9VDIOZ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hex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1B66CA-3696-425C-A0C3-A135C664CAF8}">
  <a:tblStyle styleId="{2C1B66CA-3696-425C-A0C3-A135C664CA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ADC49EA3-4A46-4584-8A58-4CF7A951724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font" Target="fonts/ArialBlack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customschemas.google.com/relationships/presentationmetadata" Target="meta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5-28T16:23:28.838">
    <p:pos x="6000" y="0"/>
    <p:text>Заполнить после оформления ПЗ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ka2uWHk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5-05-29T14:44:37.712">
    <p:pos x="6000" y="0"/>
    <p:text>Адаптировать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kcoRoAA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6aeaccb6bd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6aeaccb6bd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6aeaccb6bd_1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6aeaccb6bd_1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6aeaccb6bd_1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6aeaccb6bd_1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6aeaccb6bd_1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6aeaccb6bd_1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6aeaccb6bd_1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6aeaccb6bd_1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6aeaccb6bd_1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6aeaccb6bd_1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6aeaccb6bd_1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6aeaccb6bd_1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6aeaccb6bd_1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6aeaccb6bd_1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6aeaccb6bd_1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6aeaccb6bd_1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6aeaccb6bd_1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6aeaccb6bd_1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6aeaccb6bd_1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1499294" y="3435698"/>
            <a:ext cx="9144001" cy="1055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/>
        </p:nvSpPr>
        <p:spPr>
          <a:xfrm>
            <a:off x="239349" y="1132515"/>
            <a:ext cx="11952651" cy="1476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ИНСТИТУТ ИНТЕЛЛЕКТУАЛЬНЫХ КИБЕРНЕТИЧЕСКИХ СИСТЕМ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КАФЕДРА КИБЕРНЕТИКИ (№ 22)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НАПРАВЛЕНИЕ ПОДГОТОВКИ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" name="Google Shape;31;p19"/>
          <p:cNvGraphicFramePr/>
          <p:nvPr/>
        </p:nvGraphicFramePr>
        <p:xfrm>
          <a:off x="6341333" y="45819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{2C1B66CA-3696-425C-A0C3-A135C664CAF8}</a:tableStyleId>
              </a:tblPr>
              <a:tblGrid>
                <a:gridCol w="3063925"/>
                <a:gridCol w="2732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-RU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Студент: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/>
                </a:tc>
              </a:tr>
              <a:tr h="4225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-RU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Группа: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-RU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Научный руководитель: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sp>
        <p:nvSpPr>
          <p:cNvPr id="32" name="Google Shape;32;p19"/>
          <p:cNvSpPr txBox="1"/>
          <p:nvPr/>
        </p:nvSpPr>
        <p:spPr>
          <a:xfrm>
            <a:off x="3305360" y="2883132"/>
            <a:ext cx="52709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Научно-исследовательская работа на тему: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9"/>
          <p:cNvSpPr txBox="1"/>
          <p:nvPr/>
        </p:nvSpPr>
        <p:spPr>
          <a:xfrm>
            <a:off x="5261024" y="6232783"/>
            <a:ext cx="135966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Москва, 2025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9"/>
          <p:cNvSpPr/>
          <p:nvPr/>
        </p:nvSpPr>
        <p:spPr>
          <a:xfrm>
            <a:off x="595618" y="-2691"/>
            <a:ext cx="1153486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МИНИСТЕРСТВО НАУКИ И ВЫСШЕГО ОБРАЗОВАНИЯ РОССИЙСКОЙ  ФЕДЕРАЦИИ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Федеральное государственное автономное образовательное учреждение высшего образования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«Национальный исследовательский ядерный университет «МИФИ»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9"/>
          <p:cNvSpPr txBox="1"/>
          <p:nvPr/>
        </p:nvSpPr>
        <p:spPr>
          <a:xfrm>
            <a:off x="9344867" y="4570806"/>
            <a:ext cx="2366164" cy="354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Носов А.И.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9"/>
          <p:cNvSpPr txBox="1"/>
          <p:nvPr/>
        </p:nvSpPr>
        <p:spPr>
          <a:xfrm>
            <a:off x="9344867" y="4925534"/>
            <a:ext cx="2366164" cy="354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М24-534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9"/>
          <p:cNvSpPr txBox="1"/>
          <p:nvPr/>
        </p:nvSpPr>
        <p:spPr>
          <a:xfrm>
            <a:off x="9344867" y="5298218"/>
            <a:ext cx="2366164" cy="666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к.т.н., доцент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Киреев В.С.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9"/>
          <p:cNvSpPr txBox="1"/>
          <p:nvPr/>
        </p:nvSpPr>
        <p:spPr>
          <a:xfrm>
            <a:off x="6329492" y="2262494"/>
            <a:ext cx="4257414" cy="354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09.04.04 ПРОГРАММНАЯ ИНЖЕНЕРИЯ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cap="flat" cmpd="sng" w="95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0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cap="flat" cmpd="sng" w="95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1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51" name="Google Shape;51;p21"/>
          <p:cNvCxnSpPr/>
          <p:nvPr/>
        </p:nvCxnSpPr>
        <p:spPr>
          <a:xfrm>
            <a:off x="838200" y="792626"/>
            <a:ext cx="10515600" cy="0"/>
          </a:xfrm>
          <a:prstGeom prst="straightConnector1">
            <a:avLst/>
          </a:prstGeom>
          <a:noFill/>
          <a:ln cap="flat" cmpd="sng" w="222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type="title"/>
          </p:nvPr>
        </p:nvSpPr>
        <p:spPr>
          <a:xfrm>
            <a:off x="1499294" y="3435698"/>
            <a:ext cx="9144001" cy="1055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/>
        </p:nvSpPr>
        <p:spPr>
          <a:xfrm>
            <a:off x="239349" y="1132515"/>
            <a:ext cx="11952651" cy="1476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ИНСТИТУТ ИНТЕЛЛЕКТУАЛЬНЫХ КИБЕРНЕТИЧЕСКИХ СИСТЕМ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КАФЕДРА КИБЕРНЕТИКИ (№ 22)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НАПРАВЛЕНИЕ ПОДГОТОВКИ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5" name="Google Shape;55;p22"/>
          <p:cNvGraphicFramePr/>
          <p:nvPr/>
        </p:nvGraphicFramePr>
        <p:xfrm>
          <a:off x="6341333" y="45819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{2C1B66CA-3696-425C-A0C3-A135C664CAF8}</a:tableStyleId>
              </a:tblPr>
              <a:tblGrid>
                <a:gridCol w="3063925"/>
                <a:gridCol w="2732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-RU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Студент: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/>
                </a:tc>
              </a:tr>
              <a:tr h="4225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-RU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Группа: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-RU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Научный руководитель: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sp>
        <p:nvSpPr>
          <p:cNvPr id="56" name="Google Shape;56;p22"/>
          <p:cNvSpPr txBox="1"/>
          <p:nvPr/>
        </p:nvSpPr>
        <p:spPr>
          <a:xfrm>
            <a:off x="3316581" y="2883132"/>
            <a:ext cx="524855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Учебно-исследовательская работа на тему: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2"/>
          <p:cNvSpPr txBox="1"/>
          <p:nvPr/>
        </p:nvSpPr>
        <p:spPr>
          <a:xfrm>
            <a:off x="5261024" y="6232783"/>
            <a:ext cx="135966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Москва, 2025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2"/>
          <p:cNvSpPr/>
          <p:nvPr/>
        </p:nvSpPr>
        <p:spPr>
          <a:xfrm>
            <a:off x="595618" y="-2691"/>
            <a:ext cx="1153486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МИНИСТЕРСТВО НАУКИ И ВЫСШЕГО ОБРАЗОВАНИЯ РОССИЙСКОЙ  ФЕДЕРАЦИИ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Федеральное государственное автономное образовательное учреждение высшего образования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«Национальный исследовательский ядерный университет «МИФИ»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2"/>
          <p:cNvSpPr txBox="1"/>
          <p:nvPr/>
        </p:nvSpPr>
        <p:spPr>
          <a:xfrm>
            <a:off x="6329492" y="2262494"/>
            <a:ext cx="4257414" cy="354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09.04.04 ПРОГРАММНАЯ ИНЖЕНЕРИЯ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9328287" y="4641277"/>
            <a:ext cx="2184400" cy="2852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9328287" y="4996083"/>
            <a:ext cx="2184400" cy="2995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3" type="body"/>
          </p:nvPr>
        </p:nvSpPr>
        <p:spPr>
          <a:xfrm>
            <a:off x="9323524" y="5462042"/>
            <a:ext cx="2184400" cy="58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 txBox="1"/>
          <p:nvPr>
            <p:ph type="title"/>
          </p:nvPr>
        </p:nvSpPr>
        <p:spPr>
          <a:xfrm>
            <a:off x="1499294" y="3435698"/>
            <a:ext cx="9144001" cy="1055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 txBox="1"/>
          <p:nvPr/>
        </p:nvSpPr>
        <p:spPr>
          <a:xfrm>
            <a:off x="239349" y="1132515"/>
            <a:ext cx="11952651" cy="1476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ИНСТИТУТ ИНТЕЛЛЕКТУАЛЬНЫХ КИБЕРНЕТИЧЕСКИХ СИСТЕМ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КАФЕДРА КИБЕРНЕТИКИ (№ 22)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НАПРАВЛЕНИЕ ПОДГОТОВКИ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23"/>
          <p:cNvGraphicFramePr/>
          <p:nvPr/>
        </p:nvGraphicFramePr>
        <p:xfrm>
          <a:off x="6341333" y="45819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{2C1B66CA-3696-425C-A0C3-A135C664CAF8}</a:tableStyleId>
              </a:tblPr>
              <a:tblGrid>
                <a:gridCol w="3063925"/>
                <a:gridCol w="2732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-RU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Студент: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/>
                </a:tc>
              </a:tr>
              <a:tr h="4225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-RU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Группа: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-RU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Научный руководитель: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sp>
        <p:nvSpPr>
          <p:cNvPr id="67" name="Google Shape;67;p23"/>
          <p:cNvSpPr txBox="1"/>
          <p:nvPr/>
        </p:nvSpPr>
        <p:spPr>
          <a:xfrm>
            <a:off x="3088154" y="2883132"/>
            <a:ext cx="570540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Выпускная квалификационная работа на тему: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3"/>
          <p:cNvSpPr txBox="1"/>
          <p:nvPr/>
        </p:nvSpPr>
        <p:spPr>
          <a:xfrm>
            <a:off x="5261024" y="6232783"/>
            <a:ext cx="135966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Москва, 2025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3"/>
          <p:cNvSpPr/>
          <p:nvPr/>
        </p:nvSpPr>
        <p:spPr>
          <a:xfrm>
            <a:off x="595618" y="-2691"/>
            <a:ext cx="1153486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МИНИСТЕРСТВО НАУКИ И ВЫСШЕГО ОБРАЗОВАНИЯ РОССИЙСКОЙ  ФЕДЕРАЦИИ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Федеральное государственное автономное образовательное учреждение высшего образования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«Национальный исследовательский ядерный университет «МИФИ»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3"/>
          <p:cNvSpPr txBox="1"/>
          <p:nvPr/>
        </p:nvSpPr>
        <p:spPr>
          <a:xfrm>
            <a:off x="9344867" y="4570806"/>
            <a:ext cx="2366164" cy="354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Носов А.И.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3"/>
          <p:cNvSpPr txBox="1"/>
          <p:nvPr/>
        </p:nvSpPr>
        <p:spPr>
          <a:xfrm>
            <a:off x="9344867" y="4925534"/>
            <a:ext cx="2366164" cy="354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М24-534</a:t>
            </a:r>
            <a:endParaRPr b="0" i="0" sz="1600" u="none" cap="none" strike="noStrik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3"/>
          <p:cNvSpPr txBox="1"/>
          <p:nvPr/>
        </p:nvSpPr>
        <p:spPr>
          <a:xfrm>
            <a:off x="9344867" y="5298218"/>
            <a:ext cx="2366164" cy="666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к.т.н., доцент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Киреев В.С.</a:t>
            </a:r>
            <a:endParaRPr b="0" i="0" sz="1600" u="none" cap="none" strike="noStrik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3"/>
          <p:cNvSpPr txBox="1"/>
          <p:nvPr/>
        </p:nvSpPr>
        <p:spPr>
          <a:xfrm>
            <a:off x="6329492" y="2262494"/>
            <a:ext cx="4257414" cy="354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09.04.04 ПРОГРАММНАЯ ИНЖЕНЕРИЯ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25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5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6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cap="flat" cmpd="sng" w="95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6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" type="body"/>
          </p:nvPr>
        </p:nvSpPr>
        <p:spPr>
          <a:xfrm>
            <a:off x="838200" y="878365"/>
            <a:ext cx="5181600" cy="5298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26"/>
          <p:cNvSpPr txBox="1"/>
          <p:nvPr>
            <p:ph idx="2" type="body"/>
          </p:nvPr>
        </p:nvSpPr>
        <p:spPr>
          <a:xfrm>
            <a:off x="6172200" y="878365"/>
            <a:ext cx="5181600" cy="5298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6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6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6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7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cap="flat" cmpd="sng" w="95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7"/>
          <p:cNvSpPr txBox="1"/>
          <p:nvPr>
            <p:ph type="title"/>
          </p:nvPr>
        </p:nvSpPr>
        <p:spPr>
          <a:xfrm>
            <a:off x="839788" y="40807"/>
            <a:ext cx="10515600" cy="7609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7"/>
          <p:cNvSpPr txBox="1"/>
          <p:nvPr>
            <p:ph idx="1" type="body"/>
          </p:nvPr>
        </p:nvSpPr>
        <p:spPr>
          <a:xfrm>
            <a:off x="839788" y="897402"/>
            <a:ext cx="5157787" cy="6656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8" name="Google Shape;98;p27"/>
          <p:cNvSpPr txBox="1"/>
          <p:nvPr>
            <p:ph idx="2" type="body"/>
          </p:nvPr>
        </p:nvSpPr>
        <p:spPr>
          <a:xfrm>
            <a:off x="839788" y="1563038"/>
            <a:ext cx="5157787" cy="462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7"/>
          <p:cNvSpPr txBox="1"/>
          <p:nvPr>
            <p:ph idx="3" type="body"/>
          </p:nvPr>
        </p:nvSpPr>
        <p:spPr>
          <a:xfrm>
            <a:off x="6172200" y="897402"/>
            <a:ext cx="5183188" cy="6656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0" name="Google Shape;100;p27"/>
          <p:cNvSpPr txBox="1"/>
          <p:nvPr>
            <p:ph idx="4" type="body"/>
          </p:nvPr>
        </p:nvSpPr>
        <p:spPr>
          <a:xfrm>
            <a:off x="6172200" y="1563038"/>
            <a:ext cx="5183188" cy="462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7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7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cap="flat" cmpd="sng" w="95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8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8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8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8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cap="flat" cmpd="sng" w="95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9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9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9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15" name="Google Shape;115;p29"/>
          <p:cNvCxnSpPr/>
          <p:nvPr/>
        </p:nvCxnSpPr>
        <p:spPr>
          <a:xfrm>
            <a:off x="838200" y="792626"/>
            <a:ext cx="10515600" cy="0"/>
          </a:xfrm>
          <a:prstGeom prst="straightConnector1">
            <a:avLst/>
          </a:prstGeom>
          <a:noFill/>
          <a:ln cap="flat" cmpd="sng" w="222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" name="Google Shape;116;p29"/>
          <p:cNvCxnSpPr/>
          <p:nvPr/>
        </p:nvCxnSpPr>
        <p:spPr>
          <a:xfrm>
            <a:off x="838200" y="887210"/>
            <a:ext cx="3933825" cy="0"/>
          </a:xfrm>
          <a:prstGeom prst="straightConnector1">
            <a:avLst/>
          </a:prstGeom>
          <a:noFill/>
          <a:ln cap="flat" cmpd="sng" w="222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p29"/>
          <p:cNvSpPr txBox="1"/>
          <p:nvPr>
            <p:ph type="title"/>
          </p:nvPr>
        </p:nvSpPr>
        <p:spPr>
          <a:xfrm>
            <a:off x="839788" y="175210"/>
            <a:ext cx="3932237" cy="6984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9"/>
          <p:cNvSpPr txBox="1"/>
          <p:nvPr>
            <p:ph idx="1" type="body"/>
          </p:nvPr>
        </p:nvSpPr>
        <p:spPr>
          <a:xfrm>
            <a:off x="4905328" y="175210"/>
            <a:ext cx="6450060" cy="5685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9" name="Google Shape;119;p29"/>
          <p:cNvSpPr txBox="1"/>
          <p:nvPr>
            <p:ph idx="2" type="body"/>
          </p:nvPr>
        </p:nvSpPr>
        <p:spPr>
          <a:xfrm>
            <a:off x="839788" y="905391"/>
            <a:ext cx="3932237" cy="49635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Объект с подписью">
  <p:cSld name="1_Объект с подписью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0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cap="flat" cmpd="sng" w="95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0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0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0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25" name="Google Shape;125;p30"/>
          <p:cNvCxnSpPr/>
          <p:nvPr/>
        </p:nvCxnSpPr>
        <p:spPr>
          <a:xfrm>
            <a:off x="838200" y="792626"/>
            <a:ext cx="10515600" cy="0"/>
          </a:xfrm>
          <a:prstGeom prst="straightConnector1">
            <a:avLst/>
          </a:prstGeom>
          <a:noFill/>
          <a:ln cap="flat" cmpd="sng" w="222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" name="Google Shape;126;p30"/>
          <p:cNvCxnSpPr/>
          <p:nvPr/>
        </p:nvCxnSpPr>
        <p:spPr>
          <a:xfrm>
            <a:off x="838200" y="887210"/>
            <a:ext cx="3530937" cy="0"/>
          </a:xfrm>
          <a:prstGeom prst="straightConnector1">
            <a:avLst/>
          </a:prstGeom>
          <a:noFill/>
          <a:ln cap="flat" cmpd="sng" w="222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30"/>
          <p:cNvSpPr txBox="1"/>
          <p:nvPr>
            <p:ph type="title"/>
          </p:nvPr>
        </p:nvSpPr>
        <p:spPr>
          <a:xfrm>
            <a:off x="839789" y="175210"/>
            <a:ext cx="3529512" cy="6984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" type="body"/>
          </p:nvPr>
        </p:nvSpPr>
        <p:spPr>
          <a:xfrm>
            <a:off x="4450386" y="175210"/>
            <a:ext cx="3350123" cy="5685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9" name="Google Shape;129;p30"/>
          <p:cNvSpPr txBox="1"/>
          <p:nvPr>
            <p:ph idx="2" type="body"/>
          </p:nvPr>
        </p:nvSpPr>
        <p:spPr>
          <a:xfrm>
            <a:off x="839789" y="905391"/>
            <a:ext cx="3529512" cy="49635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0" name="Google Shape;130;p30"/>
          <p:cNvSpPr txBox="1"/>
          <p:nvPr>
            <p:ph idx="3" type="body"/>
          </p:nvPr>
        </p:nvSpPr>
        <p:spPr>
          <a:xfrm>
            <a:off x="7881594" y="175209"/>
            <a:ext cx="3353922" cy="5685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31" name="Google Shape;131;p30"/>
          <p:cNvCxnSpPr/>
          <p:nvPr/>
        </p:nvCxnSpPr>
        <p:spPr>
          <a:xfrm>
            <a:off x="4369137" y="175209"/>
            <a:ext cx="0" cy="720000"/>
          </a:xfrm>
          <a:prstGeom prst="straightConnector1">
            <a:avLst/>
          </a:prstGeom>
          <a:noFill/>
          <a:ln cap="flat" cmpd="sng" w="222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cap="flat" cmpd="sng" w="95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1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1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37" name="Google Shape;137;p31"/>
          <p:cNvCxnSpPr/>
          <p:nvPr/>
        </p:nvCxnSpPr>
        <p:spPr>
          <a:xfrm>
            <a:off x="838200" y="792626"/>
            <a:ext cx="10515600" cy="0"/>
          </a:xfrm>
          <a:prstGeom prst="straightConnector1">
            <a:avLst/>
          </a:prstGeom>
          <a:noFill/>
          <a:ln cap="flat" cmpd="sng" w="222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31"/>
          <p:cNvCxnSpPr/>
          <p:nvPr/>
        </p:nvCxnSpPr>
        <p:spPr>
          <a:xfrm>
            <a:off x="838200" y="874800"/>
            <a:ext cx="3933825" cy="0"/>
          </a:xfrm>
          <a:prstGeom prst="straightConnector1">
            <a:avLst/>
          </a:prstGeom>
          <a:noFill/>
          <a:ln cap="flat" cmpd="sng" w="222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" name="Google Shape;139;p31"/>
          <p:cNvSpPr txBox="1"/>
          <p:nvPr>
            <p:ph type="title"/>
          </p:nvPr>
        </p:nvSpPr>
        <p:spPr>
          <a:xfrm>
            <a:off x="839788" y="176400"/>
            <a:ext cx="3932237" cy="69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1"/>
          <p:cNvSpPr/>
          <p:nvPr>
            <p:ph idx="2" type="pic"/>
          </p:nvPr>
        </p:nvSpPr>
        <p:spPr>
          <a:xfrm>
            <a:off x="5183188" y="176400"/>
            <a:ext cx="6172200" cy="5684651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839788" y="874801"/>
            <a:ext cx="3932237" cy="4994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2"/>
          <p:cNvSpPr txBox="1"/>
          <p:nvPr>
            <p:ph idx="1" type="body"/>
          </p:nvPr>
        </p:nvSpPr>
        <p:spPr>
          <a:xfrm rot="5400000">
            <a:off x="3442853" y="-1733985"/>
            <a:ext cx="5306295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32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2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2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33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3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3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рисунка">
  <p:cSld name="Два рисунка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4"/>
          <p:cNvSpPr/>
          <p:nvPr/>
        </p:nvSpPr>
        <p:spPr>
          <a:xfrm>
            <a:off x="5789928" y="6599750"/>
            <a:ext cx="698869" cy="280800"/>
          </a:xfrm>
          <a:prstGeom prst="diamond">
            <a:avLst/>
          </a:prstGeom>
          <a:solidFill>
            <a:schemeClr val="lt1"/>
          </a:solidFill>
          <a:ln cap="flat" cmpd="sng" w="95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4"/>
          <p:cNvSpPr txBox="1"/>
          <p:nvPr>
            <p:ph idx="12" type="sldNum"/>
          </p:nvPr>
        </p:nvSpPr>
        <p:spPr>
          <a:xfrm>
            <a:off x="5846043" y="6591826"/>
            <a:ext cx="570000" cy="287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8" name="Google Shape;158;p34"/>
          <p:cNvSpPr/>
          <p:nvPr>
            <p:ph idx="2" type="pic"/>
          </p:nvPr>
        </p:nvSpPr>
        <p:spPr>
          <a:xfrm>
            <a:off x="838200" y="903600"/>
            <a:ext cx="5181600" cy="509233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34"/>
          <p:cNvSpPr/>
          <p:nvPr>
            <p:ph idx="3" type="pic"/>
          </p:nvPr>
        </p:nvSpPr>
        <p:spPr>
          <a:xfrm>
            <a:off x="6172200" y="903600"/>
            <a:ext cx="5181600" cy="509233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 rot="5400000">
            <a:off x="-3277366" y="3268602"/>
            <a:ext cx="6906537" cy="369332"/>
          </a:xfrm>
          <a:prstGeom prst="rect">
            <a:avLst/>
          </a:prstGeom>
          <a:solidFill>
            <a:srgbClr val="537599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8"/>
          <p:cNvSpPr txBox="1"/>
          <p:nvPr/>
        </p:nvSpPr>
        <p:spPr>
          <a:xfrm>
            <a:off x="-2880" y="8307"/>
            <a:ext cx="357238" cy="6740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" spcFirstLastPara="1" rIns="18000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0101010001001001001010101010101000000101010101111110101010101011111111111001001001010100010100101010100101001010100101001000000100001110010010010000101000010111111111111010101010010010111111001000100010101111100000010010110101010101010100001111000110000100101010010111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8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" type="body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8"/>
          <p:cNvSpPr/>
          <p:nvPr/>
        </p:nvSpPr>
        <p:spPr>
          <a:xfrm>
            <a:off x="0" y="6556718"/>
            <a:ext cx="12192000" cy="369332"/>
          </a:xfrm>
          <a:prstGeom prst="rect">
            <a:avLst/>
          </a:prstGeom>
          <a:solidFill>
            <a:srgbClr val="537599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8"/>
          <p:cNvSpPr txBox="1"/>
          <p:nvPr/>
        </p:nvSpPr>
        <p:spPr>
          <a:xfrm>
            <a:off x="-8763" y="6562550"/>
            <a:ext cx="12195661" cy="3779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" spcFirstLastPara="1" rIns="18000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00001001010010010010000101000010111111111111010101010010010111111001000100010101111100000010010110101010101010100001111000110000100101010010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8"/>
          <p:cNvSpPr txBox="1"/>
          <p:nvPr/>
        </p:nvSpPr>
        <p:spPr>
          <a:xfrm>
            <a:off x="10351455" y="6541811"/>
            <a:ext cx="92365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www.kaf22.ru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8"/>
          <p:cNvSpPr txBox="1"/>
          <p:nvPr/>
        </p:nvSpPr>
        <p:spPr>
          <a:xfrm>
            <a:off x="9489631" y="6355403"/>
            <a:ext cx="182761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rgbClr val="537599"/>
                </a:solidFill>
                <a:latin typeface="Calibri"/>
                <a:ea typeface="Calibri"/>
                <a:cs typeface="Calibri"/>
                <a:sym typeface="Calibri"/>
              </a:rPr>
              <a:t>Кафедра №22 «Кибернетика»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8"/>
          <p:cNvSpPr/>
          <p:nvPr/>
        </p:nvSpPr>
        <p:spPr>
          <a:xfrm>
            <a:off x="16257" y="6006534"/>
            <a:ext cx="900000" cy="9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8857" y="6021278"/>
            <a:ext cx="874800" cy="87300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8"/>
          <p:cNvSpPr txBox="1"/>
          <p:nvPr/>
        </p:nvSpPr>
        <p:spPr>
          <a:xfrm>
            <a:off x="914728" y="6576252"/>
            <a:ext cx="96532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www.mephi.ru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8"/>
          <p:cNvSpPr txBox="1"/>
          <p:nvPr/>
        </p:nvSpPr>
        <p:spPr>
          <a:xfrm>
            <a:off x="916191" y="6374510"/>
            <a:ext cx="87556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rgbClr val="537599"/>
                </a:solidFill>
                <a:latin typeface="Calibri"/>
                <a:ea typeface="Calibri"/>
                <a:cs typeface="Calibri"/>
                <a:sym typeface="Calibri"/>
              </a:rPr>
              <a:t>НИЯУ МИФИ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25" name="Google Shape;25;p18"/>
          <p:cNvCxnSpPr/>
          <p:nvPr/>
        </p:nvCxnSpPr>
        <p:spPr>
          <a:xfrm>
            <a:off x="838200" y="792626"/>
            <a:ext cx="10515600" cy="0"/>
          </a:xfrm>
          <a:prstGeom prst="straightConnector1">
            <a:avLst/>
          </a:prstGeom>
          <a:noFill/>
          <a:ln cap="flat" cmpd="sng" w="222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" name="Google Shape;26;p18"/>
          <p:cNvSpPr/>
          <p:nvPr/>
        </p:nvSpPr>
        <p:spPr>
          <a:xfrm>
            <a:off x="11271693" y="6006534"/>
            <a:ext cx="900000" cy="9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44943" y="6021278"/>
            <a:ext cx="926750" cy="792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textkernel.com/" TargetMode="External"/><Relationship Id="rId4" Type="http://schemas.openxmlformats.org/officeDocument/2006/relationships/hyperlink" Target="https://www.textkernel.com/" TargetMode="External"/><Relationship Id="rId5" Type="http://schemas.openxmlformats.org/officeDocument/2006/relationships/image" Target="../media/image8.jpg"/><Relationship Id="rId6" Type="http://schemas.openxmlformats.org/officeDocument/2006/relationships/image" Target="../media/image10.jp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"/>
          <p:cNvSpPr txBox="1"/>
          <p:nvPr>
            <p:ph type="title"/>
          </p:nvPr>
        </p:nvSpPr>
        <p:spPr>
          <a:xfrm>
            <a:off x="1499294" y="3435698"/>
            <a:ext cx="9144001" cy="1055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Веб-сервис для автоматизации отбора кандидатов на основе обработки текста резюме и вакансий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Реферат</a:t>
            </a:r>
            <a:endParaRPr/>
          </a:p>
        </p:txBody>
      </p:sp>
      <p:sp>
        <p:nvSpPr>
          <p:cNvPr id="170" name="Google Shape;170;p2"/>
          <p:cNvSpPr txBox="1"/>
          <p:nvPr>
            <p:ph idx="1" type="body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Пояснительная записка содержит: 76 страниц, 28 рисунков, 10 таблиц, 1 приложение, 32 источника.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Ключевые слова: </a:t>
            </a:r>
            <a:r>
              <a:rPr lang="ru-RU" sz="2000"/>
              <a:t>автоматизация рекрутинга, веб-сервис, подбор кандидатов, Django, HR-tech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Целью данной работы является разработка веб-сервиса для автоматизации отбора кандидатов на основе обработки текстовой информации из резюме и вакансий с использованием технологий обработки естественного языка (NLP) и машинного обучения.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В работе проведён анализ существующих методологий разработки и технологий построения веб-сервисов, рассмотрены стратегии и инструменты развертывания, реализована архитектура микросервисной системы, включающая обработку и сопоставление резюме и вакансий. Также выполнено тестирование прототипа на синтетических данных и реализован пользовательский интерфейс, направленный на повышение эффективности рекрутинга и снижение влияния человеческого фактора.</a:t>
            </a:r>
            <a:endParaRPr sz="2000"/>
          </a:p>
        </p:txBody>
      </p:sp>
      <p:sp>
        <p:nvSpPr>
          <p:cNvPr id="171" name="Google Shape;171;p2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 sz="2800"/>
              <a:t>Актуальность работы</a:t>
            </a:r>
            <a:endParaRPr/>
          </a:p>
        </p:txBody>
      </p:sp>
      <p:sp>
        <p:nvSpPr>
          <p:cNvPr id="177" name="Google Shape;177;p3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798600" y="2649450"/>
            <a:ext cx="51270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HeadHunter (hh.ru) — крупнейшая российская компания</a:t>
            </a: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интернет-рекрутмента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Textkernel" id="179" name="Google Shape;179;p3">
            <a:hlinkClick r:id="rId3"/>
          </p:cNvPr>
          <p:cNvSpPr/>
          <p:nvPr/>
        </p:nvSpPr>
        <p:spPr>
          <a:xfrm>
            <a:off x="42863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Textkernel" id="180" name="Google Shape;180;p3">
            <a:hlinkClick r:id="rId4"/>
          </p:cNvPr>
          <p:cNvSpPr/>
          <p:nvPr/>
        </p:nvSpPr>
        <p:spPr>
          <a:xfrm>
            <a:off x="42863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6683325" y="2787425"/>
            <a:ext cx="54369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 — американская социальная сеть для поиска и установления деловых контактов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background" id="182" name="Google Shape;18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0909" y="3511839"/>
            <a:ext cx="3643137" cy="1903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"/>
          <p:cNvSpPr txBox="1"/>
          <p:nvPr/>
        </p:nvSpPr>
        <p:spPr>
          <a:xfrm>
            <a:off x="798605" y="5229175"/>
            <a:ext cx="45159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Поиск талантов на основе искусственного интеллекта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background" id="184" name="Google Shape;18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51719" y="3636287"/>
            <a:ext cx="5090449" cy="134237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"/>
          <p:cNvSpPr txBox="1"/>
          <p:nvPr/>
        </p:nvSpPr>
        <p:spPr>
          <a:xfrm>
            <a:off x="6676673" y="5221393"/>
            <a:ext cx="4515964" cy="703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Платформа на основе AI для подбора, удержания и развития талантов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49238" y="1057336"/>
            <a:ext cx="1446476" cy="144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42488" y="926115"/>
            <a:ext cx="1708914" cy="1708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Цель НИР</a:t>
            </a:r>
            <a:endParaRPr/>
          </a:p>
        </p:txBody>
      </p:sp>
      <p:sp>
        <p:nvSpPr>
          <p:cNvPr id="193" name="Google Shape;193;p4"/>
          <p:cNvSpPr txBox="1"/>
          <p:nvPr>
            <p:ph idx="1" type="body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Целью данной работы является создание веб-сервиса, предназначенного для автоматизации процесса отбора кандидатов на основе анализа текстовой информации из резюме и вакансий, с возможностью ранжирования кандидатов по степени соответствия требованиям.</a:t>
            </a:r>
            <a:endParaRPr/>
          </a:p>
        </p:txBody>
      </p:sp>
      <p:sp>
        <p:nvSpPr>
          <p:cNvPr id="194" name="Google Shape;194;p4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Задачи НИР</a:t>
            </a:r>
            <a:endParaRPr/>
          </a:p>
        </p:txBody>
      </p:sp>
      <p:sp>
        <p:nvSpPr>
          <p:cNvPr id="200" name="Google Shape;200;p5"/>
          <p:cNvSpPr txBox="1"/>
          <p:nvPr>
            <p:ph idx="1" type="body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ru-RU" sz="2000"/>
              <a:t>Провести обзор предметной области и технологий построения веб-сервисов для автоматизации отбора кандидатов.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ru-RU" sz="2000"/>
              <a:t>Выполнить сравнительный анализ технологий.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ru-RU" sz="2000"/>
              <a:t>Разработать бизнес-модель веб-сервиса и определить функциональные требования с использованием UML/BPMN.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ru-RU" sz="2000"/>
              <a:t>Спроектировать архитектуру веб-сервиса с применением паттерна DDD и выбрать технологические решения.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ru-RU" sz="2000"/>
              <a:t>Реализовать программный модуль веб-сервиса.</a:t>
            </a:r>
            <a:endParaRPr sz="2000"/>
          </a:p>
        </p:txBody>
      </p:sp>
      <p:sp>
        <p:nvSpPr>
          <p:cNvPr id="201" name="Google Shape;201;p5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Model view controller</a:t>
            </a:r>
            <a:endParaRPr/>
          </a:p>
        </p:txBody>
      </p:sp>
      <p:sp>
        <p:nvSpPr>
          <p:cNvPr id="207" name="Google Shape;207;p6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  <p:pic>
        <p:nvPicPr>
          <p:cNvPr id="208" name="Google Shape;20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563" y="866187"/>
            <a:ext cx="9444875" cy="527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Диаграмма TO BE</a:t>
            </a:r>
            <a:endParaRPr/>
          </a:p>
        </p:txBody>
      </p:sp>
      <p:sp>
        <p:nvSpPr>
          <p:cNvPr id="214" name="Google Shape;214;p7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  <p:pic>
        <p:nvPicPr>
          <p:cNvPr id="215" name="Google Shape;21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025" y="1290925"/>
            <a:ext cx="11649299" cy="4243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Архитектура C4 Container</a:t>
            </a:r>
            <a:endParaRPr/>
          </a:p>
        </p:txBody>
      </p:sp>
      <p:sp>
        <p:nvSpPr>
          <p:cNvPr id="221" name="Google Shape;221;p8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  <p:pic>
        <p:nvPicPr>
          <p:cNvPr id="222" name="Google Shape;2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7477" y="815149"/>
            <a:ext cx="5301133" cy="57380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8"/>
          <p:cNvCxnSpPr/>
          <p:nvPr/>
        </p:nvCxnSpPr>
        <p:spPr>
          <a:xfrm>
            <a:off x="4731300" y="2088350"/>
            <a:ext cx="0" cy="95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8"/>
          <p:cNvCxnSpPr/>
          <p:nvPr/>
        </p:nvCxnSpPr>
        <p:spPr>
          <a:xfrm rot="10800000">
            <a:off x="4726675" y="3046900"/>
            <a:ext cx="9543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8"/>
          <p:cNvCxnSpPr/>
          <p:nvPr/>
        </p:nvCxnSpPr>
        <p:spPr>
          <a:xfrm rot="10800000">
            <a:off x="4735775" y="2086825"/>
            <a:ext cx="24177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8"/>
          <p:cNvCxnSpPr/>
          <p:nvPr/>
        </p:nvCxnSpPr>
        <p:spPr>
          <a:xfrm>
            <a:off x="7153475" y="2088350"/>
            <a:ext cx="0" cy="2951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8"/>
          <p:cNvCxnSpPr/>
          <p:nvPr/>
        </p:nvCxnSpPr>
        <p:spPr>
          <a:xfrm rot="10800000">
            <a:off x="5520550" y="5015250"/>
            <a:ext cx="16329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8"/>
          <p:cNvCxnSpPr/>
          <p:nvPr/>
        </p:nvCxnSpPr>
        <p:spPr>
          <a:xfrm>
            <a:off x="5520575" y="4383450"/>
            <a:ext cx="0" cy="656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8"/>
          <p:cNvCxnSpPr/>
          <p:nvPr/>
        </p:nvCxnSpPr>
        <p:spPr>
          <a:xfrm rot="10800000">
            <a:off x="5520775" y="4383450"/>
            <a:ext cx="1674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8"/>
          <p:cNvCxnSpPr/>
          <p:nvPr/>
        </p:nvCxnSpPr>
        <p:spPr>
          <a:xfrm>
            <a:off x="5680975" y="3046900"/>
            <a:ext cx="0" cy="133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Архитектура C4 Container: разрабатываемая система</a:t>
            </a:r>
            <a:endParaRPr/>
          </a:p>
        </p:txBody>
      </p:sp>
      <p:sp>
        <p:nvSpPr>
          <p:cNvPr id="236" name="Google Shape;236;p9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  <p:pic>
        <p:nvPicPr>
          <p:cNvPr id="237" name="Google Shape;2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560" y="893174"/>
            <a:ext cx="10320020" cy="52561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p9"/>
          <p:cNvCxnSpPr/>
          <p:nvPr/>
        </p:nvCxnSpPr>
        <p:spPr>
          <a:xfrm>
            <a:off x="5920850" y="949100"/>
            <a:ext cx="0" cy="328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9"/>
          <p:cNvCxnSpPr/>
          <p:nvPr/>
        </p:nvCxnSpPr>
        <p:spPr>
          <a:xfrm rot="10800000">
            <a:off x="5920775" y="4230200"/>
            <a:ext cx="2791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9"/>
          <p:cNvCxnSpPr/>
          <p:nvPr/>
        </p:nvCxnSpPr>
        <p:spPr>
          <a:xfrm rot="10800000">
            <a:off x="5920650" y="949100"/>
            <a:ext cx="5182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9"/>
          <p:cNvCxnSpPr/>
          <p:nvPr/>
        </p:nvCxnSpPr>
        <p:spPr>
          <a:xfrm>
            <a:off x="8712575" y="3343100"/>
            <a:ext cx="0" cy="887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9"/>
          <p:cNvCxnSpPr/>
          <p:nvPr/>
        </p:nvCxnSpPr>
        <p:spPr>
          <a:xfrm rot="10800000">
            <a:off x="8712250" y="3343100"/>
            <a:ext cx="2409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9"/>
          <p:cNvCxnSpPr/>
          <p:nvPr/>
        </p:nvCxnSpPr>
        <p:spPr>
          <a:xfrm>
            <a:off x="11103150" y="949100"/>
            <a:ext cx="0" cy="2394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Инструментальные средства</a:t>
            </a:r>
            <a:endParaRPr/>
          </a:p>
        </p:txBody>
      </p:sp>
      <p:sp>
        <p:nvSpPr>
          <p:cNvPr id="249" name="Google Shape;249;p10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1960925" y="848900"/>
            <a:ext cx="2201100" cy="30441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 txBox="1"/>
          <p:nvPr/>
        </p:nvSpPr>
        <p:spPr>
          <a:xfrm>
            <a:off x="2025650" y="3142025"/>
            <a:ext cx="1996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Язык программирования и ide, используемые при разработке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7575375" y="891350"/>
            <a:ext cx="2261700" cy="3001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407513" y="4288675"/>
            <a:ext cx="2959200" cy="18495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4756275" y="891350"/>
            <a:ext cx="2261700" cy="3001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1946" y="4382761"/>
            <a:ext cx="1050349" cy="89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0"/>
          <p:cNvSpPr txBox="1"/>
          <p:nvPr/>
        </p:nvSpPr>
        <p:spPr>
          <a:xfrm>
            <a:off x="4659550" y="3108683"/>
            <a:ext cx="24183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Платформа</a:t>
            </a: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для </a:t>
            </a: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хостинга веб-сайта</a:t>
            </a: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 txBox="1"/>
          <p:nvPr/>
        </p:nvSpPr>
        <p:spPr>
          <a:xfrm>
            <a:off x="7507900" y="3277600"/>
            <a:ext cx="24183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СУБД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4692650" y="5371463"/>
            <a:ext cx="25527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Приложение для развертывания программной системы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background" id="259" name="Google Shape;25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5425" y="1037344"/>
            <a:ext cx="1847080" cy="1038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71266" y="1799349"/>
            <a:ext cx="1069920" cy="977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5450" y="2164817"/>
            <a:ext cx="977208" cy="97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32475" y="1944698"/>
            <a:ext cx="2087837" cy="462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Отобранные фреймворки</a:t>
            </a:r>
            <a:endParaRPr/>
          </a:p>
        </p:txBody>
      </p:sp>
      <p:sp>
        <p:nvSpPr>
          <p:cNvPr id="268" name="Google Shape;268;p11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  <p:graphicFrame>
        <p:nvGraphicFramePr>
          <p:cNvPr id="269" name="Google Shape;269;p11"/>
          <p:cNvGraphicFramePr/>
          <p:nvPr/>
        </p:nvGraphicFramePr>
        <p:xfrm>
          <a:off x="1780365" y="12099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{ADC49EA3-4A46-4584-8A58-4CF7A9517246}</a:tableStyleId>
              </a:tblPr>
              <a:tblGrid>
                <a:gridCol w="3195050"/>
                <a:gridCol w="1838875"/>
                <a:gridCol w="2344575"/>
                <a:gridCol w="1252750"/>
              </a:tblGrid>
              <a:tr h="599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/>
                        <a:t>Фреймворк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/>
                        <a:t>Назначение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/>
                        <a:t>Производительность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/>
                        <a:t>Масштабируемость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/>
                        <a:t>Django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Сложные веб-приложения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Средняя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Высокая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/>
                        <a:t>FastAPI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Быстрые API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Высокая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Высокая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/>
                        <a:t>Flask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Малые приложения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Средняя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Средняя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/>
                        <a:t>Spring Boot (Java)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Enterprise-решения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Высокая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Очень высокая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/>
                        <a:t>Ruby on Rails</a:t>
                      </a:r>
                      <a:endParaRPr b="1" sz="1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Быстрая разработка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Средняя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Средняя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/>
                        <a:t>Express.js (Node.js)</a:t>
                      </a:r>
                      <a:endParaRPr b="1" sz="1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Лёгкий бэкенд и API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Высокая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Средняя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275" name="Google Shape;275;p15"/>
          <p:cNvSpPr txBox="1"/>
          <p:nvPr>
            <p:ph idx="1" type="body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В результате выполнения работы было разработана работоспособное web решение, позволяющие сопоставлять загружать, удалять, просматривать и ранжировать резюме на основе информации из вакансий.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В дальнейшем планируется: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/>
              <a:t>Разработать недостающие компоненты сервиса</a:t>
            </a:r>
            <a:r>
              <a:rPr lang="ru-RU" sz="2000"/>
              <a:t>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/>
              <a:t>Апробация различных алгоритмов user-flow.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/>
              <a:t>Переход к реализации MVP на основе текущего прототипа.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Развитие разработанного решения в указанных направлениях позволит достичь конечной поставленной цели.</a:t>
            </a:r>
            <a:endParaRPr sz="2000"/>
          </a:p>
        </p:txBody>
      </p:sp>
      <p:sp>
        <p:nvSpPr>
          <p:cNvPr id="276" name="Google Shape;276;p15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Список литературы</a:t>
            </a:r>
            <a:endParaRPr/>
          </a:p>
        </p:txBody>
      </p:sp>
      <p:sp>
        <p:nvSpPr>
          <p:cNvPr id="282" name="Google Shape;282;p16"/>
          <p:cNvSpPr txBox="1"/>
          <p:nvPr>
            <p:ph idx="1" type="body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/>
              <a:t>Байдыбеков А.А., Гильванов Р.Г., Молодкин И.А. Современные фреймворки для разработки WEB-приложений, 2020.</a:t>
            </a:r>
            <a:endParaRPr sz="2000"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/>
              <a:t>Дергачев А.М., Кореньков Ю.Д., Логинов И.П., Сафронов А.Г. Технологии Веб-сервисов. Университет ИТМО, 2021.</a:t>
            </a:r>
            <a:endParaRPr sz="2000"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/>
              <a:t>Удальцова Н.Л. Особенности проведения Customer Development в процессе коммерциализации минимального жизнеспособного продукта, 2024.</a:t>
            </a:r>
            <a:endParaRPr sz="2000"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/>
              <a:t>Brown T., Davis K. AI in Recruitment: Transforming Talent Acquisition. — New York: Springer, 2019.</a:t>
            </a:r>
            <a:endParaRPr sz="2000"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/>
              <a:t>Хекслет. Почему Django — лучший фреймворк для разработки сайтов [Электронный ресурс] — https://ru.hexlet.io/blog/posts/pochemu-django-luchshiy-freymvork-dlya-razrabotki-saytov (дата обращения: 01.04.2025).</a:t>
            </a:r>
            <a:endParaRPr sz="2000"/>
          </a:p>
        </p:txBody>
      </p:sp>
      <p:sp>
        <p:nvSpPr>
          <p:cNvPr id="283" name="Google Shape;283;p16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7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  <p:sp>
        <p:nvSpPr>
          <p:cNvPr id="289" name="Google Shape;289;p17"/>
          <p:cNvSpPr txBox="1"/>
          <p:nvPr/>
        </p:nvSpPr>
        <p:spPr>
          <a:xfrm>
            <a:off x="4228176" y="2739377"/>
            <a:ext cx="378821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ru-RU" sz="2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Спасибо за внимание!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6aeaccb6bd_1_12"/>
          <p:cNvSpPr txBox="1"/>
          <p:nvPr>
            <p:ph idx="12" type="sldNum"/>
          </p:nvPr>
        </p:nvSpPr>
        <p:spPr>
          <a:xfrm>
            <a:off x="5785581" y="6566051"/>
            <a:ext cx="606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296" name="Google Shape;296;g36aeaccb6bd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50" y="289850"/>
            <a:ext cx="11716452" cy="4983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6aeaccb6bd_1_18"/>
          <p:cNvSpPr txBox="1"/>
          <p:nvPr>
            <p:ph idx="12" type="sldNum"/>
          </p:nvPr>
        </p:nvSpPr>
        <p:spPr>
          <a:xfrm>
            <a:off x="5785581" y="6566051"/>
            <a:ext cx="606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303" name="Google Shape;303;g36aeaccb6bd_1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825" y="62750"/>
            <a:ext cx="11146126" cy="58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6aeaccb6bd_1_24"/>
          <p:cNvSpPr txBox="1"/>
          <p:nvPr>
            <p:ph idx="12" type="sldNum"/>
          </p:nvPr>
        </p:nvSpPr>
        <p:spPr>
          <a:xfrm>
            <a:off x="5785581" y="6566051"/>
            <a:ext cx="606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310" name="Google Shape;310;g36aeaccb6bd_1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875" y="91125"/>
            <a:ext cx="9708244" cy="626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6aeaccb6bd_1_30"/>
          <p:cNvSpPr txBox="1"/>
          <p:nvPr>
            <p:ph idx="12" type="sldNum"/>
          </p:nvPr>
        </p:nvSpPr>
        <p:spPr>
          <a:xfrm>
            <a:off x="5785581" y="6566051"/>
            <a:ext cx="606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317" name="Google Shape;317;g36aeaccb6bd_1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0888" y="257000"/>
            <a:ext cx="8296275" cy="603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6aeaccb6bd_1_36"/>
          <p:cNvSpPr txBox="1"/>
          <p:nvPr>
            <p:ph idx="12" type="sldNum"/>
          </p:nvPr>
        </p:nvSpPr>
        <p:spPr>
          <a:xfrm>
            <a:off x="5785581" y="6566051"/>
            <a:ext cx="606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324" name="Google Shape;324;g36aeaccb6bd_1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5150" y="76200"/>
            <a:ext cx="7661697" cy="626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6aeaccb6bd_1_42"/>
          <p:cNvSpPr txBox="1"/>
          <p:nvPr>
            <p:ph idx="12" type="sldNum"/>
          </p:nvPr>
        </p:nvSpPr>
        <p:spPr>
          <a:xfrm>
            <a:off x="5785581" y="6566051"/>
            <a:ext cx="606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331" name="Google Shape;331;g36aeaccb6bd_1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4664" y="0"/>
            <a:ext cx="6728724" cy="636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aeaccb6bd_1_48"/>
          <p:cNvSpPr txBox="1"/>
          <p:nvPr>
            <p:ph idx="12" type="sldNum"/>
          </p:nvPr>
        </p:nvSpPr>
        <p:spPr>
          <a:xfrm>
            <a:off x="5785581" y="6566051"/>
            <a:ext cx="606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338" name="Google Shape;338;g36aeaccb6bd_1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350" y="914400"/>
            <a:ext cx="11770649" cy="425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2017-09-30T21:27:42Z</dcterms:created>
  <dc:creator>V. R.</dc:creator>
</cp:coreProperties>
</file>